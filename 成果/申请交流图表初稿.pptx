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展示数据与可编辑图表.xlsx。图片：01_TopK配对提升.png。</a:t>
            </a:r>
          </a:p>
          <a:p>
            <a:r>
              <a:t>每个 Random 点为同一模型 seed 下五次选样的均值；单一早期候选池。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展示数据与可编辑图表.xlsx。图片：02_类别收益.png。</a:t>
            </a:r>
          </a:p>
          <a:p>
            <a:r>
              <a:t>均值差异为描述性结果，不解释为普遍的类别效应。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展示数据与可编辑图表.xlsx。图片：03_来源兼容性矩阵.png。</a:t>
            </a:r>
          </a:p>
          <a:p>
            <a:r>
              <a:t>Real 训练 200 条、synthetic 训练 1,600 条；三个 seed/单元，不能作等预算来源排名。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展示数据与可编辑图表.xlsx。图片：04_筛选器对照.png。</a:t>
            </a:r>
          </a:p>
          <a:p>
            <a:r>
              <a:t>误差线为 SD。DSIR/LN 来自独立 25 次原表，避开 CaR 总表中的缺失与混合汇总。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展示数据与可编辑图表.xlsx。图片：05_DSIR有效样本量.png。</a:t>
            </a:r>
          </a:p>
          <a:p>
            <a:r>
              <a:t>ESS 衡量采样权重集中程度；它的改善不等于下游泛化提升。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来源和作图数据见 展示数据与可编辑图表.xlsx。图片：06_Verifier下游对照.png。</a:t>
            </a:r>
          </a:p>
          <a:p>
            <a:r>
              <a:t>4,000 候选池独立阶段；误差线为五个模型 seed 的 SD。按预定规则归类为 No useful signal。</a:t>
            </a:r>
          </a:p>
          <a:p>
            <a:r>
              <a:t>展示图为 PNG；修改数值请在 Excel 原生图表或生成脚本中完成。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14B"/>
                </a:solidFill>
                <a:latin typeface="Microsoft YaHei"/>
              </a:defRPr>
            </a:pPr>
            <a:r>
              <a:t>固定预算下的合成文本筛选</a:t>
            </a:r>
          </a:p>
          <a:p>
            <a:pPr>
              <a:defRPr sz="3200" b="1">
                <a:solidFill>
                  <a:srgbClr val="15314B"/>
                </a:solidFill>
                <a:latin typeface="Microsoft YaHei"/>
              </a:defRPr>
            </a:pPr>
            <a:r>
              <a:t>与真实域泛化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5314B"/>
                </a:solidFill>
                <a:latin typeface="Microsoft YaHei"/>
              </a:defRPr>
            </a:pPr>
            <a:r>
              <a:t>AG News 四分类 · BERT 下游分类器</a:t>
            </a:r>
          </a:p>
          <a:p>
            <a:pPr>
              <a:defRPr sz="2300" b="0">
                <a:solidFill>
                  <a:srgbClr val="15314B"/>
                </a:solidFill>
                <a:latin typeface="Microsoft YaHei"/>
              </a:defRPr>
            </a:pPr>
            <a:r>
              <a:t>研究问题：哪些合成样本值得进入有限的训练预算？</a:t>
            </a:r>
          </a:p>
          <a:p>
            <a:pPr>
              <a:defRPr sz="2300" b="0">
                <a:solidFill>
                  <a:srgbClr val="15314B"/>
                </a:solidFill>
                <a:latin typeface="Microsoft YaHei"/>
              </a:defRPr>
            </a:pPr>
            <a:r>
              <a:t>从真实数据锚定筛选，到分布诊断与 verifier 的效用边界。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3697D"/>
                </a:solidFill>
                <a:latin typeface="Microsoft YaHei"/>
              </a:defRPr>
            </a:pPr>
            <a:r>
              <a:t>讨论用图表初稿 · 基于已有结果整理</a:t>
            </a:r>
          </a:p>
          <a:p>
            <a:pPr>
              <a:defRPr sz="1500" b="0">
                <a:solidFill>
                  <a:srgbClr val="53697D"/>
                </a:solidFill>
                <a:latin typeface="Microsoft YaHei"/>
              </a:defRPr>
            </a:pPr>
            <a:r>
              <a:t>姓名、申请方向与学校信息可自行补充。数值为开发或诊断结果，最终 holdout 未使用。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真实数据锚定筛选：配对开发集结果更好</a:t>
            </a:r>
          </a:p>
        </p:txBody>
      </p:sp>
      <p:pic>
        <p:nvPicPr>
          <p:cNvPr id="3" name="Picture 2" descr="01_TopK配对提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4" y="868680"/>
            <a:ext cx="10106526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Accuracy +2.67 pp；Macro-F1 +3.81 pp；五个配对模型 seed 均正向。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每个 Random 点为同一模型 seed 下五次选样的均值；单一早期候选池。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类别诊断：Sci/Tech 的平均收益最大</a:t>
            </a:r>
          </a:p>
        </p:txBody>
      </p:sp>
      <p:pic>
        <p:nvPicPr>
          <p:cNvPr id="3" name="Picture 2" descr="02_类别收益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4" y="868680"/>
            <a:ext cx="10106526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Sci/Tech F1 平均提高 10.13 个百分点；其他类别收益较小。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均值差异为描述性结果，不解释为普遍的类别效应。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来源兼容性：合成 holdout 高分不代表真实泛化</a:t>
            </a:r>
          </a:p>
        </p:txBody>
      </p:sp>
      <p:pic>
        <p:nvPicPr>
          <p:cNvPr id="3" name="Picture 2" descr="03_来源兼容性矩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65" y="868680"/>
            <a:ext cx="8728363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合成训练在合成测试上约 97%–100%；在真实测试上约 68%–70%。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Real 训练 200 条、synthetic 训练 1,600 条；三个 seed/单元，不能作等预算来源排名。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机制对照：复杂筛选器未超过 TopK</a:t>
            </a:r>
          </a:p>
        </p:txBody>
      </p:sp>
      <p:pic>
        <p:nvPicPr>
          <p:cNvPr id="3" name="Picture 2" descr="04_筛选器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4" y="868680"/>
            <a:ext cx="10106526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保留 DSIR、LN-DSIR、RA-CaR 的结果，用于分析方法何时有用。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误差线为 SD。DSIR/LN 来自独立 25 次原表，避开 CaR 总表中的缺失与混合汇总。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权重诊断：修复 ESS 集中仍不足以提升效用</a:t>
            </a:r>
          </a:p>
        </p:txBody>
      </p:sp>
      <p:pic>
        <p:nvPicPr>
          <p:cNvPr id="3" name="Picture 2" descr="05_DSIR有效样本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4" y="868680"/>
            <a:ext cx="10106526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长度归一化使 ESS 中位数从约 1.00 提升到 49.58。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ESS 衡量采样权重集中程度；它的改善不等于下游泛化提升。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14B"/>
                </a:solidFill>
                <a:latin typeface="Microsoft YaHei"/>
              </a:defRPr>
            </a:pPr>
            <a:r>
              <a:t>Verifier：cross 优于 self，仍未胜过 TopK</a:t>
            </a:r>
          </a:p>
        </p:txBody>
      </p:sp>
      <p:pic>
        <p:nvPicPr>
          <p:cNvPr id="3" name="Picture 2" descr="06_Verifier下游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4" y="868680"/>
            <a:ext cx="10106526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95"/>
                </a:solidFill>
                <a:latin typeface="Microsoft YaHei"/>
              </a:defRPr>
            </a:pPr>
            <a:r>
              <a:t>Cross − Self：+2.02 pp（4/5 正向）；Cross − TopK：−0.65 pp（1/5 正向）。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199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97D"/>
                </a:solidFill>
                <a:latin typeface="Microsoft YaHei"/>
              </a:defRPr>
            </a:pPr>
            <a:r>
              <a:t>4,000 候选池独立阶段；误差线为五个模型 seed 的 SD。按预定规则归类为 No useful signal。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9BA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